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fd71114e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fd71114e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d71114e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d71114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d71114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d71114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fd71114e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fd71114e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d71114e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d71114e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d71114e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d71114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d71114e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fd71114e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d71114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fd71114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d71114e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d71114e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d71114e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d71114e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d71114e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fd71114e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d71114e5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fd71114e5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3.png"/><Relationship Id="rId13" Type="http://schemas.openxmlformats.org/officeDocument/2006/relationships/image" Target="../media/image8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XbfMJXYsfW2z206gfPO7MQMEer3Jzg9v/view" TargetMode="External"/><Relationship Id="rId4" Type="http://schemas.openxmlformats.org/officeDocument/2006/relationships/image" Target="../media/image10.jpg"/><Relationship Id="rId5" Type="http://schemas.openxmlformats.org/officeDocument/2006/relationships/hyperlink" Target="http://drive.google.com/file/d/19tJngwRghh5RzVI20640gWZya4NjG3ad/view" TargetMode="External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5050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04850"/>
            <a:ext cx="28479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28725"/>
            <a:ext cx="32194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4250" y="152400"/>
            <a:ext cx="34099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076450"/>
            <a:ext cx="3810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2619375"/>
            <a:ext cx="28289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14800" y="1392825"/>
            <a:ext cx="43910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400" y="3152775"/>
            <a:ext cx="44481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52975" y="2173875"/>
            <a:ext cx="35718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2400" y="3924300"/>
            <a:ext cx="35814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52975" y="2954925"/>
            <a:ext cx="4238625" cy="62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223700" y="1944750"/>
            <a:ext cx="5362800" cy="12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State of the art </a:t>
            </a:r>
            <a:r>
              <a:rPr lang="en" sz="4000"/>
              <a:t>model for 3d Object tracking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60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method aims to recover </a:t>
            </a:r>
            <a:r>
              <a:rPr b="1" lang="en" sz="1400">
                <a:solidFill>
                  <a:schemeClr val="dk1"/>
                </a:solidFill>
              </a:rPr>
              <a:t>pixel-wise 3D trajectories</a:t>
            </a:r>
            <a:r>
              <a:rPr lang="en" sz="1400">
                <a:solidFill>
                  <a:schemeClr val="dk1"/>
                </a:solidFill>
              </a:rPr>
              <a:t> of scene points across video frames.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total motion is </a:t>
            </a:r>
            <a:r>
              <a:rPr b="1" lang="en" sz="1400">
                <a:solidFill>
                  <a:schemeClr val="dk1"/>
                </a:solidFill>
              </a:rPr>
              <a:t>decomposed</a:t>
            </a:r>
            <a:r>
              <a:rPr lang="en" sz="1400">
                <a:solidFill>
                  <a:schemeClr val="dk1"/>
                </a:solidFill>
              </a:rPr>
              <a:t> into: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Ego Motion</a:t>
            </a:r>
            <a:r>
              <a:rPr lang="en">
                <a:solidFill>
                  <a:schemeClr val="dk1"/>
                </a:solidFill>
              </a:rPr>
              <a:t> – movement caused by the </a:t>
            </a:r>
            <a:r>
              <a:rPr b="1" lang="en">
                <a:solidFill>
                  <a:schemeClr val="dk1"/>
                </a:solidFill>
              </a:rPr>
              <a:t>camera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Object Motion</a:t>
            </a:r>
            <a:r>
              <a:rPr lang="en">
                <a:solidFill>
                  <a:schemeClr val="dk1"/>
                </a:solidFill>
              </a:rPr>
              <a:t> – movement of </a:t>
            </a:r>
            <a:r>
              <a:rPr b="1" lang="en">
                <a:solidFill>
                  <a:schemeClr val="dk1"/>
                </a:solidFill>
              </a:rPr>
              <a:t>dynamic objects</a:t>
            </a:r>
            <a:r>
              <a:rPr lang="en">
                <a:solidFill>
                  <a:schemeClr val="dk1"/>
                </a:solidFill>
              </a:rPr>
              <a:t> in the scene.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5" name="Google Shape;75;p15"/>
          <p:cNvSpPr txBox="1"/>
          <p:nvPr/>
        </p:nvSpPr>
        <p:spPr>
          <a:xfrm>
            <a:off x="421300" y="6754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Method Overview</a:t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417000" y="387300"/>
            <a:ext cx="8310000" cy="4756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 Ego Motion Estimation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Uses a </a:t>
            </a:r>
            <a:r>
              <a:rPr b="1" lang="en" sz="1300">
                <a:solidFill>
                  <a:schemeClr val="dk1"/>
                </a:solidFill>
              </a:rPr>
              <a:t>temporal depth network</a:t>
            </a:r>
            <a:r>
              <a:rPr lang="en" sz="1300">
                <a:solidFill>
                  <a:schemeClr val="dk1"/>
                </a:solidFill>
              </a:rPr>
              <a:t> (based on DepthAnything + DPT) to predict </a:t>
            </a:r>
            <a:r>
              <a:rPr b="1" lang="en" sz="1300">
                <a:solidFill>
                  <a:schemeClr val="dk1"/>
                </a:solidFill>
              </a:rPr>
              <a:t>scale-aligned video depth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</a:t>
            </a:r>
            <a:r>
              <a:rPr b="1" lang="en" sz="1300">
                <a:solidFill>
                  <a:schemeClr val="dk1"/>
                </a:solidFill>
              </a:rPr>
              <a:t>differentiable camera tracker</a:t>
            </a:r>
            <a:r>
              <a:rPr lang="en" sz="1300">
                <a:solidFill>
                  <a:schemeClr val="dk1"/>
                </a:solidFill>
              </a:rPr>
              <a:t> estimates </a:t>
            </a:r>
            <a:r>
              <a:rPr b="1" lang="en" sz="1300">
                <a:solidFill>
                  <a:schemeClr val="dk1"/>
                </a:solidFill>
              </a:rPr>
              <a:t>camera poses</a:t>
            </a:r>
            <a:r>
              <a:rPr lang="en" sz="1300">
                <a:solidFill>
                  <a:schemeClr val="dk1"/>
                </a:solidFill>
              </a:rPr>
              <a:t> (rotation, translation, scale, and shift).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These parameters generate the initial </a:t>
            </a:r>
            <a:r>
              <a:rPr b="1" lang="en" sz="1300">
                <a:solidFill>
                  <a:schemeClr val="dk1"/>
                </a:solidFill>
              </a:rPr>
              <a:t>ego-motion 3D tracks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Joint Motion Optimization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transformer-based module called </a:t>
            </a:r>
            <a:r>
              <a:rPr b="1" lang="en" sz="1300">
                <a:solidFill>
                  <a:schemeClr val="dk1"/>
                </a:solidFill>
              </a:rPr>
              <a:t>SyncFormer</a:t>
            </a:r>
            <a:r>
              <a:rPr lang="en" sz="1300">
                <a:solidFill>
                  <a:schemeClr val="dk1"/>
                </a:solidFill>
              </a:rPr>
              <a:t> jointly refines: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2D and 3D trajectories</a:t>
            </a:r>
            <a:r>
              <a:rPr lang="en" sz="1300">
                <a:solidFill>
                  <a:schemeClr val="dk1"/>
                </a:solidFill>
              </a:rPr>
              <a:t>,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Dynamic probabilities (p</a:t>
            </a:r>
            <a:r>
              <a:rPr b="1" baseline="-25000" lang="en" sz="1300">
                <a:solidFill>
                  <a:schemeClr val="dk1"/>
                </a:solidFill>
              </a:rPr>
              <a:t>dyn</a:t>
            </a:r>
            <a:r>
              <a:rPr b="1" lang="en" sz="1300">
                <a:solidFill>
                  <a:schemeClr val="dk1"/>
                </a:solidFill>
              </a:rPr>
              <a:t>)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visibility (p</a:t>
            </a:r>
            <a:r>
              <a:rPr b="1" baseline="-25000" lang="en" sz="1300">
                <a:solidFill>
                  <a:schemeClr val="dk1"/>
                </a:solidFill>
              </a:rPr>
              <a:t>vis</a:t>
            </a:r>
            <a:r>
              <a:rPr b="1" lang="en" sz="1300">
                <a:solidFill>
                  <a:schemeClr val="dk1"/>
                </a:solidFill>
              </a:rPr>
              <a:t>)</a:t>
            </a:r>
            <a:r>
              <a:rPr lang="en" sz="1300">
                <a:solidFill>
                  <a:schemeClr val="dk1"/>
                </a:solidFill>
              </a:rPr>
              <a:t>,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Camera poses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Separate </a:t>
            </a:r>
            <a:r>
              <a:rPr b="1" lang="en" sz="1300">
                <a:solidFill>
                  <a:schemeClr val="dk1"/>
                </a:solidFill>
              </a:rPr>
              <a:t>2D and 3D branches</a:t>
            </a:r>
            <a:r>
              <a:rPr lang="en" sz="1300">
                <a:solidFill>
                  <a:schemeClr val="dk1"/>
                </a:solidFill>
              </a:rPr>
              <a:t> interact via </a:t>
            </a:r>
            <a:r>
              <a:rPr b="1" lang="en" sz="1300">
                <a:solidFill>
                  <a:schemeClr val="dk1"/>
                </a:solidFill>
              </a:rPr>
              <a:t>cross-attention</a:t>
            </a:r>
            <a:r>
              <a:rPr lang="en" sz="1300">
                <a:solidFill>
                  <a:schemeClr val="dk1"/>
                </a:solidFill>
              </a:rPr>
              <a:t>, ensuring synchronized updates.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366425"/>
            <a:ext cx="7665000" cy="3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Camera Pose Refinement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After each iteration, trajectories and poses are aligned using: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Weighted Procrustes analysis</a:t>
            </a:r>
            <a:r>
              <a:rPr lang="en" sz="1100">
                <a:solidFill>
                  <a:schemeClr val="dk1"/>
                </a:solidFill>
              </a:rPr>
              <a:t> for coarse alignment.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Differentiable bundle adjustment</a:t>
            </a:r>
            <a:r>
              <a:rPr lang="en" sz="1100">
                <a:solidFill>
                  <a:schemeClr val="dk1"/>
                </a:solidFill>
              </a:rPr>
              <a:t> to refine camera poses.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loop iteratively improves </a:t>
            </a:r>
            <a:r>
              <a:rPr b="1" lang="en" sz="1100">
                <a:solidFill>
                  <a:schemeClr val="dk1"/>
                </a:solidFill>
              </a:rPr>
              <a:t>consistency</a:t>
            </a:r>
            <a:r>
              <a:rPr lang="en" sz="1100">
                <a:solidFill>
                  <a:schemeClr val="dk1"/>
                </a:solidFill>
              </a:rPr>
              <a:t> between 2D projections and 3D motion.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WhatsApp Video 2025-11-03 at 9.44.37 PM (online-video-cutter.com)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3488" y="304800"/>
            <a:ext cx="4419600" cy="48387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1" name="Google Shape;91;p18" title="WhatsApp Video 2025-11-03 at 10.09.14 PM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912" y="304800"/>
            <a:ext cx="3602575" cy="4838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the Method Fails for Missing Objects or Frames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method relies on </a:t>
            </a:r>
            <a:r>
              <a:rPr b="1" lang="en" sz="1100">
                <a:solidFill>
                  <a:schemeClr val="dk1"/>
                </a:solidFill>
              </a:rPr>
              <a:t>continuous temporal correlations</a:t>
            </a:r>
            <a:r>
              <a:rPr lang="en" sz="1100">
                <a:solidFill>
                  <a:schemeClr val="dk1"/>
                </a:solidFill>
              </a:rPr>
              <a:t> between consecutive frames to track objects in 3D.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When an object is </a:t>
            </a:r>
            <a:r>
              <a:rPr b="1" lang="en" sz="1100">
                <a:solidFill>
                  <a:schemeClr val="dk1"/>
                </a:solidFill>
              </a:rPr>
              <a:t>missing or occluded</a:t>
            </a:r>
            <a:r>
              <a:rPr lang="en" sz="1100">
                <a:solidFill>
                  <a:schemeClr val="dk1"/>
                </a:solidFill>
              </a:rPr>
              <a:t>, its </a:t>
            </a:r>
            <a:r>
              <a:rPr b="1" lang="en" sz="1100">
                <a:solidFill>
                  <a:schemeClr val="dk1"/>
                </a:solidFill>
              </a:rPr>
              <a:t>visual and positional features are absent</a:t>
            </a:r>
            <a:r>
              <a:rPr lang="en" sz="1100">
                <a:solidFill>
                  <a:schemeClr val="dk1"/>
                </a:solidFill>
              </a:rPr>
              <a:t>, breaking these correlations.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Without consistent frame-to-frame features, </a:t>
            </a:r>
            <a:r>
              <a:rPr b="1" lang="en" sz="1100">
                <a:solidFill>
                  <a:schemeClr val="dk1"/>
                </a:solidFill>
              </a:rPr>
              <a:t>SyncFormer cannot propagate motion information</a:t>
            </a:r>
            <a:r>
              <a:rPr lang="en" sz="1100">
                <a:solidFill>
                  <a:schemeClr val="dk1"/>
                </a:solidFill>
              </a:rPr>
              <a:t>, leading to </a:t>
            </a:r>
            <a:r>
              <a:rPr b="1" lang="en" sz="1100">
                <a:solidFill>
                  <a:schemeClr val="dk1"/>
                </a:solidFill>
              </a:rPr>
              <a:t>trajectory gaps or incorrect 3D motion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missing data also disrupts the </a:t>
            </a:r>
            <a:r>
              <a:rPr b="1" lang="en" sz="1100">
                <a:solidFill>
                  <a:schemeClr val="dk1"/>
                </a:solidFill>
              </a:rPr>
              <a:t>bundle adjustment</a:t>
            </a:r>
            <a:r>
              <a:rPr lang="en" sz="1100">
                <a:solidFill>
                  <a:schemeClr val="dk1"/>
                </a:solidFill>
              </a:rPr>
              <a:t>, since it requires </a:t>
            </a:r>
            <a:r>
              <a:rPr b="1" lang="en" sz="1100">
                <a:solidFill>
                  <a:schemeClr val="dk1"/>
                </a:solidFill>
              </a:rPr>
              <a:t>consistent 2D–3D correspondences</a:t>
            </a:r>
            <a:r>
              <a:rPr lang="en" sz="1100">
                <a:solidFill>
                  <a:schemeClr val="dk1"/>
                </a:solidFill>
              </a:rPr>
              <a:t> across all frames for accurate camera pose refinement.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260325" y="736075"/>
            <a:ext cx="828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Context-Guided Inference for Missing Frame generation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486525" y="1376975"/>
            <a:ext cx="83391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provide a </a:t>
            </a:r>
            <a:r>
              <a:rPr b="1" lang="en">
                <a:solidFill>
                  <a:schemeClr val="dk1"/>
                </a:solidFill>
              </a:rPr>
              <a:t>temporal context guidance </a:t>
            </a:r>
            <a:r>
              <a:rPr lang="en">
                <a:solidFill>
                  <a:schemeClr val="dk1"/>
                </a:solidFill>
              </a:rPr>
              <a:t>during missing frame generation (inference time) so the generated object motion </a:t>
            </a:r>
            <a:r>
              <a:rPr i="1" lang="en">
                <a:solidFill>
                  <a:schemeClr val="dk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 for a missing frame 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consistent with adjacent real frames</a:t>
            </a:r>
            <a:r>
              <a:rPr lang="en">
                <a:solidFill>
                  <a:schemeClr val="dk1"/>
                </a:solidFill>
              </a:rPr>
              <a:t> (e.g. 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baseline="-25000" i="1" lang="en">
                <a:solidFill>
                  <a:schemeClr val="dk1"/>
                </a:solidFill>
              </a:rPr>
              <a:t>t-1 </a:t>
            </a:r>
            <a:r>
              <a:rPr i="1" lang="en">
                <a:solidFill>
                  <a:schemeClr val="dk2"/>
                </a:solidFill>
              </a:rPr>
              <a:t>,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baseline="-25000" i="1" lang="en">
                <a:solidFill>
                  <a:schemeClr val="dk1"/>
                </a:solidFill>
              </a:rPr>
              <a:t>t+1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baseline="-25000" lang="en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0" y="0"/>
            <a:ext cx="9144000" cy="4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Notation (Consistent with MotionModes)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• </a:t>
            </a:r>
            <a:r>
              <a:rPr b="1" lang="en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 – Input image (the frame that has a missing object or needs motion).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 – Binary object mask (1 inside the object, 0 elsewhere).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x ∈ </a:t>
            </a:r>
            <a:r>
              <a:rPr b="1" lang="en">
                <a:solidFill>
                  <a:schemeClr val="dk1"/>
                </a:solidFill>
              </a:rPr>
              <a:t>ℝ^(F×H×W×2)</a:t>
            </a:r>
            <a:r>
              <a:rPr lang="en">
                <a:solidFill>
                  <a:schemeClr val="dk1"/>
                </a:solidFill>
              </a:rPr>
              <a:t> – Motion vector field representing per-frame 2D offsets.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xₜ</a:t>
            </a:r>
            <a:r>
              <a:rPr lang="en">
                <a:solidFill>
                  <a:schemeClr val="dk1"/>
                </a:solidFill>
              </a:rPr>
              <a:t> – Noisy motion at diffusion step 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; </a:t>
            </a:r>
            <a:r>
              <a:rPr b="1" lang="en">
                <a:solidFill>
                  <a:schemeClr val="dk1"/>
                </a:solidFill>
              </a:rPr>
              <a:t>x₀</a:t>
            </a:r>
            <a:r>
              <a:rPr lang="en">
                <a:solidFill>
                  <a:schemeClr val="dk1"/>
                </a:solidFill>
              </a:rPr>
              <a:t> is the denoised motion.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ϵₜ(·)</a:t>
            </a:r>
            <a:r>
              <a:rPr lang="en">
                <a:solidFill>
                  <a:schemeClr val="dk1"/>
                </a:solidFill>
              </a:rPr>
              <a:t> – Pretrained motion denoiser (from MotionModes).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Iₜ₋₁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Iₜ₊₁</a:t>
            </a:r>
            <a:r>
              <a:rPr lang="en">
                <a:solidFill>
                  <a:schemeClr val="dk1"/>
                </a:solidFill>
              </a:rPr>
              <a:t> – Context frames (actual neighboring frames from the video).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W(I, x)</a:t>
            </a:r>
            <a:r>
              <a:rPr lang="en">
                <a:solidFill>
                  <a:schemeClr val="dk1"/>
                </a:solidFill>
              </a:rPr>
              <a:t> – Differentiable warp operator that warps an image 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by motion field </a:t>
            </a:r>
            <a:r>
              <a:rPr i="1" lang="en">
                <a:solidFill>
                  <a:schemeClr val="dk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 (implemented using bilinear sampling).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F(·)</a:t>
            </a:r>
            <a:r>
              <a:rPr lang="en">
                <a:solidFill>
                  <a:schemeClr val="dk1"/>
                </a:solidFill>
              </a:rPr>
              <a:t> – Frozen feature extractor (e.g., mid-layer activation from pretrained ViT/DINO, or VGG conv feature map).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b="1" lang="en">
                <a:solidFill>
                  <a:schemeClr val="dk1"/>
                </a:solidFill>
              </a:rPr>
              <a:t>E(·)</a:t>
            </a:r>
            <a:r>
              <a:rPr lang="en">
                <a:solidFill>
                  <a:schemeClr val="dk1"/>
                </a:solidFill>
              </a:rPr>
              <a:t> – MotionModes’ original combined energy (static camera, object motion, diversity, smoothness).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664250" y="341100"/>
            <a:ext cx="7335600" cy="3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Context Guidance Energy — Definition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simple and effective formulation requires that warping the previous real frame </a:t>
            </a:r>
            <a:r>
              <a:rPr i="1" lang="en">
                <a:solidFill>
                  <a:schemeClr val="dk1"/>
                </a:solidFill>
              </a:rPr>
              <a:t>Iₜ₋₁</a:t>
            </a:r>
            <a:r>
              <a:rPr lang="en">
                <a:solidFill>
                  <a:schemeClr val="dk1"/>
                </a:solidFill>
              </a:rPr>
              <a:t> by the generated motion approximates the next real frame </a:t>
            </a:r>
            <a:r>
              <a:rPr i="1" lang="en">
                <a:solidFill>
                  <a:schemeClr val="dk1"/>
                </a:solidFill>
              </a:rPr>
              <a:t>Iₜ₊₁</a:t>
            </a:r>
            <a:r>
              <a:rPr lang="en">
                <a:solidFill>
                  <a:schemeClr val="dk1"/>
                </a:solidFill>
              </a:rPr>
              <a:t> in feature space: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• </a:t>
            </a:r>
            <a:r>
              <a:rPr i="1" lang="en">
                <a:solidFill>
                  <a:schemeClr val="dk1"/>
                </a:solidFill>
              </a:rPr>
              <a:t>Nₘ = Σ₍ᵢ,ⱼ₎ mᵢⱼ</a:t>
            </a:r>
            <a:r>
              <a:rPr lang="en">
                <a:solidFill>
                  <a:schemeClr val="dk1"/>
                </a:solidFill>
              </a:rPr>
              <a:t> normalizes over object pixels (the mask can also be applied directly to the features if needed).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2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763" y="2047913"/>
            <a:ext cx="38385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 title="CodeCogsEq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375" y="987225"/>
            <a:ext cx="35718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755825" y="1843750"/>
            <a:ext cx="5314200" cy="20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1153222" y="1696150"/>
            <a:ext cx="6272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/>
              <a:t>Follow MotionModes denoising but replace the denoiser input with a guided correction: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Compute the predicted noise-free motion at step t 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Apply gradient guidance using the total energy: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 is a small step size (often called guidance strength or gradient step).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3"/>
            </a:pPr>
            <a:r>
              <a:rPr lang="en">
                <a:solidFill>
                  <a:schemeClr val="dk1"/>
                </a:solidFill>
              </a:rPr>
              <a:t>Proceed with the standard conditioned denoising update using 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 title="CodeCogsEq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543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CodeCogsEqn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650" y="152400"/>
            <a:ext cx="2552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MotionI2V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/>
        </p:nvSpPr>
        <p:spPr>
          <a:xfrm>
            <a:off x="2115450" y="901300"/>
            <a:ext cx="4460100" cy="4112400"/>
          </a:xfrm>
          <a:prstGeom prst="flowChartSummingJunc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3407550" y="1410675"/>
            <a:ext cx="16896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Motion due to camera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388775" y="2541250"/>
            <a:ext cx="13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Motion due to jitter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